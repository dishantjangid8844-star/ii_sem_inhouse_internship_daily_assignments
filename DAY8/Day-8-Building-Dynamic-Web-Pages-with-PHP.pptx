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4" r:id="rId18"/>
    <p:sldId id="275" r:id="rId19"/>
  </p:sldIdLst>
  <p:sldSz cx="12192000" cy="6858000"/>
  <p:notesSz cx="6858000" cy="12192000"/>
  <p:embeddedFontLst>
    <p:embeddedFont>
      <p:font typeface="Consolas" panose="020B0609020204030204" pitchFamily="49" charset="0"/>
      <p:regular r:id="rId21"/>
      <p:bold r:id="rId22"/>
      <p:italic r:id="rId23"/>
      <p:boldItalic r:id="rId24"/>
    </p:embeddedFont>
    <p:embeddedFont>
      <p:font typeface="Inter" panose="02000503000000020004" pitchFamily="2" charset="0"/>
      <p:regular r:id="rId25"/>
    </p:embeddedFont>
    <p:embeddedFont>
      <p:font typeface="Inter Bold" panose="02000503000000020004" pitchFamily="2" charset="0"/>
      <p:regular r:id="rId26"/>
      <p:bold r:id="rId2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10"/>
  </p:normalViewPr>
  <p:slideViewPr>
    <p:cSldViewPr snapToGrid="0" snapToObjects="1">
      <p:cViewPr>
        <p:scale>
          <a:sx n="56" d="100"/>
          <a:sy n="56" d="100"/>
        </p:scale>
        <p:origin x="1952" y="1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1506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407444"/>
            <a:ext cx="6296860" cy="1033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Day 8: Building Dynamic Web Pages with PHP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688953"/>
            <a:ext cx="690644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Simple Forms to Dynamic Applications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139605"/>
            <a:ext cx="1785000" cy="310952"/>
          </a:xfrm>
          <a:prstGeom prst="roundRect">
            <a:avLst>
              <a:gd name="adj" fmla="val 178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332577" y="4189214"/>
            <a:ext cx="2196152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STACK BOOTCAMP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101008" y="4139605"/>
            <a:ext cx="968748" cy="310952"/>
          </a:xfrm>
          <a:prstGeom prst="roundRect">
            <a:avLst>
              <a:gd name="adj" fmla="val 17871"/>
            </a:avLst>
          </a:prstGeom>
          <a:noFill/>
          <a:ln/>
          <a:effectLst>
            <a:outerShdw blurRad="101600" dist="50800" dir="16200000" algn="bl" rotWithShape="0">
              <a:srgbClr val="4950BC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200224" y="4189214"/>
            <a:ext cx="1379900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8 OF 13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8152402" y="4139605"/>
            <a:ext cx="1078778" cy="310952"/>
          </a:xfrm>
          <a:prstGeom prst="roundRect">
            <a:avLst>
              <a:gd name="adj" fmla="val 17871"/>
            </a:avLst>
          </a:prstGeom>
          <a:noFill/>
          <a:ln/>
          <a:effectLst>
            <a:outerShdw blurRad="101600" dist="50800" dir="16200000" algn="bl" rotWithShape="0">
              <a:srgbClr val="4950BC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251619" y="4189214"/>
            <a:ext cx="148993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HRS 30 MIN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D684ACB-8EEA-1CA0-CE91-E5CF083BED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1138336"/>
            <a:ext cx="3783452" cy="103346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312366"/>
            <a:ext cx="6296860" cy="15501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Yesterday We Collected Data. But Can We Make It Look Like This?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3110607"/>
            <a:ext cx="629686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built a form. A user filled it in. And then… nothing special happened. Today we change that. Think about Google Forms — when you submit, you land on a polished, personalized Thank You page. How is that page generated? Hint: it's not magic. It's PHP reading what you submitted and building the page dynamically, in real time.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4619724"/>
            <a:ext cx="6296860" cy="925909"/>
          </a:xfrm>
          <a:prstGeom prst="roundRect">
            <a:avLst>
              <a:gd name="adj" fmla="val 750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8655" y="4859437"/>
            <a:ext cx="206667" cy="16529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70617" y="4826298"/>
            <a:ext cx="559430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Pause. Let students think. Don't answer immediately — let the question land.</a:t>
            </a:r>
            <a:endParaRPr lang="en-US" sz="13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917BE6B-3F51-07F1-31D1-3B575EE5A5D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6130"/>
            <a:ext cx="4679734" cy="521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Today's Mission </a:t>
            </a:r>
            <a:r>
              <a:rPr lang="en-US" sz="32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61475" y="1308001"/>
            <a:ext cx="1147833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end of session, every team ships a </a:t>
            </a:r>
            <a:r>
              <a:rPr lang="en-US" sz="12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Registration Confirmation System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 real, working multi-page PHP application.</a:t>
            </a:r>
            <a:endParaRPr lang="en-US" sz="12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500" y="1746746"/>
            <a:ext cx="10520595" cy="394791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36045" y="458342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Confirm Page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336215" y="47362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 Grading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347253" y="47362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Validate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358291" y="4736267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 Submit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325854" y="4583423"/>
            <a:ext cx="1586822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Bootstrap Form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61475" y="5874941"/>
            <a:ext cx="10868745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not a toy project. It uses Bootstrap, PHP, validation, functions, and reusable includes — everything a real app needs. Keep this flow in mind throughout the day.</a:t>
            </a:r>
            <a:endParaRPr lang="en-US" sz="125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092E24-2D47-55DE-446F-855EF8BCE4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03040"/>
            <a:ext cx="7277910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Rapid-Fire Recap — 5 Minutes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163167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pair discussion before we push forward. No notes, no Googling — just talk it out with your partner.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475" y="2613819"/>
            <a:ext cx="2593216" cy="1784846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5819" y="2798167"/>
            <a:ext cx="222452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How do you run a PHP file?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819" y="3414316"/>
            <a:ext cx="222452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Via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XAMPP — never directly from the filesystem.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9985" y="2613819"/>
            <a:ext cx="2593216" cy="1784846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04329" y="279816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</a:t>
            </a:r>
            <a:r>
              <a:rPr lang="en-US" sz="16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?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04329" y="3155851"/>
            <a:ext cx="222452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own machine acting as a web server, served by Apache inside XAMPP.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8495" y="2613819"/>
            <a:ext cx="2593216" cy="1784846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62838" y="279816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does </a:t>
            </a:r>
            <a:r>
              <a:rPr lang="en-US" sz="16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echo</a:t>
            </a: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do?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62838" y="3155851"/>
            <a:ext cx="2224528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 text or HTML directly into the browser response.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37005" y="2613819"/>
            <a:ext cx="2593216" cy="1784846"/>
          </a:xfrm>
          <a:prstGeom prst="roundRect">
            <a:avLst>
              <a:gd name="adj" fmla="val 3892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21348" y="2798167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HTML vs PHP?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21348" y="3155851"/>
            <a:ext cx="2224528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HTML is static markup; PHP runs server-side and generates HTML dynamically.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475" y="4563963"/>
            <a:ext cx="10868745" cy="990997"/>
          </a:xfrm>
          <a:prstGeom prst="roundRect">
            <a:avLst>
              <a:gd name="adj" fmla="val 7010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5819" y="474831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is </a:t>
            </a:r>
            <a:r>
              <a:rPr lang="en-US" sz="160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19" y="5105995"/>
            <a:ext cx="1050005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superglobal array holding form data sent via the POST method.</a:t>
            </a:r>
            <a:endParaRPr lang="en-US" sz="13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F0C14E9-898F-57D3-B18C-773BC09B46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38287"/>
            <a:ext cx="858221" cy="310952"/>
          </a:xfrm>
          <a:prstGeom prst="roundRect">
            <a:avLst>
              <a:gd name="adj" fmla="val 178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787896"/>
            <a:ext cx="1269373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15318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 vs POST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045395"/>
            <a:ext cx="286199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 — Data in the URL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61475" y="2489895"/>
            <a:ext cx="5232666" cy="1653679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3240" y="2489895"/>
            <a:ext cx="5249136" cy="165367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907" y="2655193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method="get" action="result.php"&gt;
  &lt;input name="name" /&gt;
  &lt;button&gt;Submit&lt;/button&gt;
&lt;/form&gt;
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1475" y="4329609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becomes: </a:t>
            </a:r>
            <a:r>
              <a:rPr lang="en-US" sz="1300" dirty="0" err="1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result.php?name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=Martin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for search queries, filters, bookmarkable pages.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2045395"/>
            <a:ext cx="386427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POST — Data hidden in the body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03904" y="2489895"/>
            <a:ext cx="5232666" cy="1653679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95669" y="2489895"/>
            <a:ext cx="5249136" cy="165367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02337" y="2655193"/>
            <a:ext cx="4835801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 action="result.php"&gt;
  &lt;input name="name" /&gt;
  &lt;button&gt;Submit&lt;/button&gt;
&lt;/form&gt;
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4329609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URL stays clean: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result.php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for login, registration, sensitive or large data.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61475" y="5193705"/>
            <a:ext cx="10868745" cy="925909"/>
          </a:xfrm>
          <a:prstGeom prst="roundRect">
            <a:avLst>
              <a:gd name="adj" fmla="val 7502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69" y="5433417"/>
            <a:ext cx="206667" cy="16529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198731" y="5400278"/>
            <a:ext cx="1016619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Code Now: Create both forms side by side. Open browser and compare URLs after each submit. See the difference visually.</a:t>
            </a:r>
            <a:endParaRPr lang="en-US" sz="14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185B9F0-5C61-2041-24E3-AB3316A28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05160"/>
            <a:ext cx="2580714" cy="310952"/>
          </a:xfrm>
          <a:prstGeom prst="roundRect">
            <a:avLst>
              <a:gd name="adj" fmla="val 178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854770"/>
            <a:ext cx="299186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1 — MISSION +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182191"/>
            <a:ext cx="8070053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Mission: Feedback Form via POST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124968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Your 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555081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Bootstrap feedback form with three fields: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968526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Name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text input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Email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email input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Message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textarea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4026892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submit, display the submitted data using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a styled result page.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2124968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Code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2555081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Upgrade your result page to display a personalized greeting using the submitted name: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3904" y="3270349"/>
            <a:ext cx="5232666" cy="1918295"/>
          </a:xfrm>
          <a:prstGeom prst="roundRect">
            <a:avLst>
              <a:gd name="adj" fmla="val 362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95669" y="3270349"/>
            <a:ext cx="5249136" cy="1918295"/>
          </a:xfrm>
          <a:prstGeom prst="roundRect">
            <a:avLst>
              <a:gd name="adj" fmla="val 1293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02337" y="3435648"/>
            <a:ext cx="483580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
$name = $_POST['name'];
echo "&lt;h2&gt;Thank you, 
  $name!&lt;/h2&gt;";
?&gt;
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5374680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Style the output using a Bootstrap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alert-success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card. Make it look polished.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8BFC8E8-C38D-880B-3F59-0FDFC68C0D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805880"/>
            <a:ext cx="885108" cy="310952"/>
          </a:xfrm>
          <a:prstGeom prst="roundRect">
            <a:avLst>
              <a:gd name="adj" fmla="val 178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855490"/>
            <a:ext cx="129626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182912"/>
            <a:ext cx="5537161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Conditional Logic in PHP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94769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Conditions let PHP make decisions. Syntax is identical to JavaScript — but remember the semicolons and PHP tags.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398341"/>
            <a:ext cx="10868745" cy="1653679"/>
          </a:xfrm>
          <a:prstGeom prst="roundRect">
            <a:avLst>
              <a:gd name="adj" fmla="val 4201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3240" y="3398341"/>
            <a:ext cx="10885215" cy="1653679"/>
          </a:xfrm>
          <a:prstGeom prst="roundRect">
            <a:avLst>
              <a:gd name="adj" fmla="val 1500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907" y="3563640"/>
            <a:ext cx="10471880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$cgpa = $_POST['cgpa'];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 ($cgpa &gt;= 9) {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echo "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8BBFA57-B716-AD2D-218B-566C72393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85565"/>
            <a:ext cx="2607602" cy="310952"/>
          </a:xfrm>
          <a:prstGeom prst="roundRect">
            <a:avLst>
              <a:gd name="adj" fmla="val 178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235174"/>
            <a:ext cx="3018754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2 — MISSION +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562596"/>
            <a:ext cx="7750477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Mission: Student Grade Checker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505373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Your 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935486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form where a student enters their 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CGPA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 submit, PHP reads the value and outputs a personalized performance message.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613547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Input: one number field for CGPA (e.g.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8.7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Output: performance message based on range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Wrap everything in a Bootstrap card for polish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3904" y="2505373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Code Challenge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03904" y="2935486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up the output by using different 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Bootstrap alert colors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reflect each grade band: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303904" y="3613547"/>
            <a:ext cx="5232666" cy="1231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alert-success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Excellent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alert-primary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Very Good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alert-warning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Good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alert-danger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Keep Improving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303904" y="4994374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color should change </a:t>
            </a:r>
            <a:r>
              <a:rPr lang="en-US" sz="130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dynamically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based on the PHP condition result.</a:t>
            </a:r>
            <a:endParaRPr lang="en-US" sz="13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05B1BBA-2DF8-8DFF-FFD1-71694A7E2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938238"/>
            <a:ext cx="886100" cy="310952"/>
          </a:xfrm>
          <a:prstGeom prst="roundRect">
            <a:avLst>
              <a:gd name="adj" fmla="val 178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987848"/>
            <a:ext cx="1297253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2315270"/>
            <a:ext cx="1039865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Functions — Write Once, Reuse Everywhere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3080048"/>
            <a:ext cx="10868745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Functions eliminate repetition. Define once, call anywhere. PHP functions work just like JavaScript functions — same concept, slightly different syntax.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61475" y="3795316"/>
            <a:ext cx="10868745" cy="1124446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53240" y="3795316"/>
            <a:ext cx="10885215" cy="112444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907" y="3960614"/>
            <a:ext cx="1047188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greetStudent($name) {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return "Welcome, $name!</a:t>
            </a:r>
            <a:endParaRPr lang="en-US" sz="13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8E6CF9C-7881-510F-A815-30DA916E6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72902"/>
            <a:ext cx="2608693" cy="310952"/>
          </a:xfrm>
          <a:prstGeom prst="roundRect">
            <a:avLst>
              <a:gd name="adj" fmla="val 178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722511"/>
            <a:ext cx="3019846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3 — MISSION +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49933"/>
            <a:ext cx="8121546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Mission: Welcome Card Generator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992709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Your 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422823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 form that collects three inputs: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2836267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Name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Branch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(e.g. Computer Science)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College Name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3894634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submit, call a PHP function that returns a formatted, Bootstrap-styled 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Welcome Card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displaying all three fields.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1992709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Code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2422823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the current date to your welcome card using PHP's built-in date function: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3904" y="3138091"/>
            <a:ext cx="5232666" cy="2182912"/>
          </a:xfrm>
          <a:prstGeom prst="roundRect">
            <a:avLst>
              <a:gd name="adj" fmla="val 318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95669" y="3138091"/>
            <a:ext cx="5249136" cy="2182912"/>
          </a:xfrm>
          <a:prstGeom prst="roundRect">
            <a:avLst>
              <a:gd name="adj" fmla="val 113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02337" y="3303389"/>
            <a:ext cx="4835801" cy="18523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
function getFormattedDate() {
  return date("l, F j, Y");
}
// Output: Monday, June 9, 2025
?&gt;
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5507038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it below the student's name on the card. Bonus: add a greeting that changes by time of day using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date('H')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CA0557C-CE76-AD77-648E-789180342C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07504"/>
            <a:ext cx="756326" cy="250825"/>
          </a:xfrm>
          <a:prstGeom prst="roundRect">
            <a:avLst>
              <a:gd name="adj" fmla="val 18832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45809" y="549672"/>
            <a:ext cx="1197243" cy="1664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806053"/>
            <a:ext cx="5524461" cy="4455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Reusable Pages with </a:t>
            </a:r>
            <a:r>
              <a:rPr lang="en-US" sz="2750" b="1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1430834"/>
            <a:ext cx="10875995" cy="406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Professional PHP apps never repeat code. A single </a:t>
            </a: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header.php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powers every page of the site — change it once, update everywhere.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61475" y="2036833"/>
            <a:ext cx="236680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File Structure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61475" y="2252960"/>
            <a:ext cx="5262927" cy="1321296"/>
          </a:xfrm>
          <a:prstGeom prst="roundRect">
            <a:avLst>
              <a:gd name="adj" fmla="val 446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54530" y="2390746"/>
            <a:ext cx="5276817" cy="1321296"/>
          </a:xfrm>
          <a:prstGeom prst="roundRect">
            <a:avLst>
              <a:gd name="adj" fmla="val 159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0242" y="2359602"/>
            <a:ext cx="4925393" cy="12119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/project
  ├── header.php
  ├── footer.php
  └── index.php
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3835" y="3790383"/>
            <a:ext cx="2366804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index.php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1475" y="4062512"/>
            <a:ext cx="5262927" cy="2153543"/>
          </a:xfrm>
          <a:prstGeom prst="roundRect">
            <a:avLst>
              <a:gd name="adj" fmla="val 2742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4530" y="4062512"/>
            <a:ext cx="5276817" cy="2588809"/>
          </a:xfrm>
          <a:prstGeom prst="roundRect">
            <a:avLst>
              <a:gd name="adj" fmla="val 97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30242" y="4203005"/>
            <a:ext cx="4925393" cy="236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2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 include 'header.php'; ?&gt;
&lt;main class</a:t>
            </a:r>
            <a:r>
              <a:rPr lang="en-US" sz="24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="</a:t>
            </a:r>
            <a:r>
              <a:rPr lang="en-US" sz="16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container"&gt;
  &lt;h1&gt;Welcome!&lt;/h1&gt;
  &lt;p&gt;Page content here.&lt;/p&gt;
&lt;/main&gt;
&lt;?php include 'footer.php'; ?&gt;
</a:t>
            </a:r>
            <a:endParaRPr lang="en-US" sz="160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5635" y="1940493"/>
            <a:ext cx="6125955" cy="2803543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0169885" y="2307268"/>
            <a:ext cx="989561" cy="206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Footer.php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169885" y="2616926"/>
            <a:ext cx="1090717" cy="56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closure and common scripts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389748" y="3243077"/>
            <a:ext cx="989561" cy="123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Index.php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060206" y="3517591"/>
            <a:ext cx="1319103" cy="685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Unique page content rendered for each route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271041" y="3718817"/>
            <a:ext cx="989561" cy="123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Header.php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271041" y="3928289"/>
            <a:ext cx="1090717" cy="568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Site branding and navigation shared across pages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274543" y="5205846"/>
            <a:ext cx="5262927" cy="95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pattern is used by every major PHP framework: Laravel, WordPress, CodeIgniter. Master it now and it applies everywhere.</a:t>
            </a:r>
            <a:endParaRPr lang="en-US" sz="16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1FE4282-1C94-1441-D1A8-90DF5590B8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69777"/>
            <a:ext cx="2612364" cy="310952"/>
          </a:xfrm>
          <a:prstGeom prst="roundRect">
            <a:avLst>
              <a:gd name="adj" fmla="val 178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1119386"/>
            <a:ext cx="302351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4 — MISSION + CHALLENGE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446808"/>
            <a:ext cx="9726270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Mission: Split Your Site into Reusable Files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2389584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Your 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819698"/>
            <a:ext cx="584225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Refactor your existing project into three separate files: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3233142"/>
            <a:ext cx="5232666" cy="909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header.php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Bootstrap navbar, meta tags, CSS links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footer.php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copyright, scripts, closing tags</a:t>
            </a:r>
            <a:endParaRPr lang="en-US" sz="1300" dirty="0"/>
          </a:p>
          <a:p>
            <a:pPr marL="264160" indent="-264160" algn="l">
              <a:lnSpc>
                <a:spcPct val="133000"/>
              </a:lnSpc>
              <a:buSzPct val="100000"/>
              <a:buChar char="•"/>
            </a:pP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index.php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unique page content only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1475" y="4291509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assemble the full page. Confirm it renders identically in the browser via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3904" y="2389584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Code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03904" y="2819698"/>
            <a:ext cx="523266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Bootstrap navbar to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header.php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links to at least three pages. Then 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highlight the active page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dynamically using a PHP variable: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03904" y="3799582"/>
            <a:ext cx="5232666" cy="1124446"/>
          </a:xfrm>
          <a:prstGeom prst="roundRect">
            <a:avLst>
              <a:gd name="adj" fmla="val 6178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95669" y="3799582"/>
            <a:ext cx="5249136" cy="1124446"/>
          </a:xfrm>
          <a:prstGeom prst="roundRect">
            <a:avLst>
              <a:gd name="adj" fmla="val 2206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502337" y="3964880"/>
            <a:ext cx="4835801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 $page = "home"; ?&gt;
&lt;?php include 'header.php'; ?&gt;
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03904" y="5110063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Inside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header.php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add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class="active"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the correct nav link using an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condition on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$page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3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3119C8-DC72-2E0B-566A-7F4E95636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499467"/>
            <a:ext cx="977181" cy="270966"/>
          </a:xfrm>
          <a:prstGeom prst="roundRect">
            <a:avLst>
              <a:gd name="adj" fmla="val 18169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49380" y="543421"/>
            <a:ext cx="1410955" cy="183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🐛</a:t>
            </a:r>
            <a:r>
              <a:rPr lang="en-US" sz="9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BUG HUNT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61475" y="822325"/>
            <a:ext cx="6851082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Spot the Bug — Can You Find All 5?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661475" y="1474887"/>
            <a:ext cx="6296860" cy="588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following PHP page is broken. Working in pairs, identify every bug before the reveal. There are exactly </a:t>
            </a:r>
            <a:r>
              <a:rPr lang="en-US" sz="1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bugs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hidden in this code.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61475" y="2062956"/>
            <a:ext cx="6296860" cy="3387725"/>
          </a:xfrm>
          <a:prstGeom prst="roundRect">
            <a:avLst>
              <a:gd name="adj" fmla="val 1817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54232" y="2062956"/>
            <a:ext cx="6311345" cy="4538260"/>
          </a:xfrm>
          <a:prstGeom prst="roundRect">
            <a:avLst>
              <a:gd name="adj" fmla="val 649"/>
            </a:avLst>
          </a:prstGeom>
          <a:solidFill>
            <a:srgbClr val="F2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37385" y="2111674"/>
            <a:ext cx="5945039" cy="4401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&lt;?php
  $name = $_POST['</a:t>
            </a:r>
            <a:r>
              <a:rPr lang="en-US" dirty="0" err="1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student_name</a:t>
            </a:r>
            <a:r>
              <a:rPr lang="en-US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']
  $cgpa = $_GET['</a:t>
            </a:r>
            <a:r>
              <a:rPr lang="en-US" dirty="0" err="1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cgpa</a:t>
            </a:r>
            <a:r>
              <a:rPr lang="en-US" dirty="0">
                <a:solidFill>
                  <a:srgbClr val="005CC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'];
  if ($cgpa &gt;= 9) {
    $grade = "Excellent"
  } else {
    $grade = "Keep Improving";
  }
  echo "&lt;h2&gt;Welcome $Nam!&lt;/h2&gt;";
?&gt;
&lt;?php include 'hedr.php'; ?&gt; </a:t>
            </a:r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C00B2D1-FBD1-1823-55E3-7A30F80284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2051" y="119133"/>
            <a:ext cx="1043940" cy="68470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91455"/>
            <a:ext cx="1262130" cy="304205"/>
          </a:xfrm>
          <a:prstGeom prst="roundRect">
            <a:avLst>
              <a:gd name="adj" fmla="val 1769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57516" y="739477"/>
            <a:ext cx="1679632" cy="208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🚀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BUILD SPRINT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2003673" y="694630"/>
            <a:ext cx="971823" cy="297855"/>
          </a:xfrm>
          <a:prstGeom prst="roundRect">
            <a:avLst>
              <a:gd name="adj" fmla="val 18074"/>
            </a:avLst>
          </a:prstGeom>
          <a:noFill/>
          <a:ln/>
          <a:effectLst>
            <a:outerShdw blurRad="101600" dist="50800" dir="16200000" algn="bl" rotWithShape="0">
              <a:srgbClr val="4950BC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2099714" y="742652"/>
            <a:ext cx="1389325" cy="201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00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30 MINUTES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61475" y="1057672"/>
            <a:ext cx="11352524" cy="5006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Build Sprint: Student Registration Confirmation System</a:t>
            </a:r>
            <a:endParaRPr lang="en-US" sz="3150" dirty="0"/>
          </a:p>
        </p:txBody>
      </p:sp>
      <p:sp>
        <p:nvSpPr>
          <p:cNvPr id="7" name="Text 5"/>
          <p:cNvSpPr/>
          <p:nvPr/>
        </p:nvSpPr>
        <p:spPr>
          <a:xfrm>
            <a:off x="661475" y="1741042"/>
            <a:ext cx="10868746" cy="473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put it all together. This is a hackathon-style sprint — build fast, build clean, build something you're proud to demo.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594450"/>
            <a:ext cx="5356786" cy="121275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6858" y="2773639"/>
            <a:ext cx="200278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Bootstrap Form</a:t>
            </a: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916858" y="3123385"/>
            <a:ext cx="4922218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Name, Email, CGPA, Branch, College — styled with Bootstrap 5 form components.</a:t>
            </a:r>
            <a:endParaRPr lang="en-US" sz="14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3435" y="2594450"/>
            <a:ext cx="5356786" cy="121275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28817" y="2773639"/>
            <a:ext cx="205467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POST + Validation</a:t>
            </a: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428817" y="3123385"/>
            <a:ext cx="4922218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 fields sent via POST. PHP checks for empty inputs before processing.</a:t>
            </a:r>
            <a:endParaRPr lang="en-US" sz="14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962379"/>
            <a:ext cx="5356786" cy="121275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16858" y="4141568"/>
            <a:ext cx="200278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Grade Logic</a:t>
            </a:r>
            <a:endParaRPr lang="en-US" dirty="0"/>
          </a:p>
        </p:txBody>
      </p:sp>
      <p:sp>
        <p:nvSpPr>
          <p:cNvPr id="16" name="Text 11"/>
          <p:cNvSpPr/>
          <p:nvPr/>
        </p:nvSpPr>
        <p:spPr>
          <a:xfrm>
            <a:off x="916858" y="4491314"/>
            <a:ext cx="4922218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your </a:t>
            </a: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calculateGrade()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function with Bootstrap alert colors.</a:t>
            </a:r>
            <a:endParaRPr lang="en-US" sz="14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3435" y="3962379"/>
            <a:ext cx="5356786" cy="12127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28817" y="4141568"/>
            <a:ext cx="200278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Welcome Card</a:t>
            </a: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6428817" y="4491314"/>
            <a:ext cx="4922218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polished confirmation card showing all submitted details and today's date.</a:t>
            </a:r>
            <a:endParaRPr lang="en-US" sz="14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5330308"/>
            <a:ext cx="5356786" cy="1212751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16858" y="5509497"/>
            <a:ext cx="200278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Header &amp; Footer</a:t>
            </a:r>
            <a:endParaRPr lang="en-US" dirty="0"/>
          </a:p>
        </p:txBody>
      </p:sp>
      <p:sp>
        <p:nvSpPr>
          <p:cNvPr id="22" name="Text 15"/>
          <p:cNvSpPr/>
          <p:nvPr/>
        </p:nvSpPr>
        <p:spPr>
          <a:xfrm>
            <a:off x="916858" y="5859243"/>
            <a:ext cx="4922218" cy="258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14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include</a:t>
            </a: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shared layout — navbar, branding, footer.</a:t>
            </a:r>
            <a:endParaRPr lang="en-US" sz="1400" dirty="0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73435" y="5330308"/>
            <a:ext cx="5356786" cy="1212751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428817" y="5509497"/>
            <a:ext cx="2002780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⭐</a:t>
            </a:r>
            <a:r>
              <a:rPr lang="en-US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Bonus</a:t>
            </a:r>
            <a:endParaRPr lang="en-US" dirty="0"/>
          </a:p>
        </p:txBody>
      </p:sp>
      <p:sp>
        <p:nvSpPr>
          <p:cNvPr id="25" name="Text 17"/>
          <p:cNvSpPr/>
          <p:nvPr/>
        </p:nvSpPr>
        <p:spPr>
          <a:xfrm>
            <a:off x="6428817" y="5859243"/>
            <a:ext cx="4922218" cy="504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Profile photo placeholder, Font Awesome icons, gradient background on confirmation card.</a:t>
            </a:r>
            <a:endParaRPr lang="en-US" sz="140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D51D260-41AE-E5A0-0D61-DC778CCAC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9209"/>
            <a:ext cx="1475346" cy="317302"/>
          </a:xfrm>
          <a:prstGeom prst="roundRect">
            <a:avLst>
              <a:gd name="adj" fmla="val 1751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738818"/>
            <a:ext cx="188649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🧠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INTERVIEW QUIZ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72590"/>
            <a:ext cx="596150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 PHP Interview Questions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837367"/>
            <a:ext cx="10868645" cy="7095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These questions come up in real internship and junior developer interviews. Answer without looking at your code.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61475" y="2915543"/>
            <a:ext cx="3512653" cy="1692316"/>
          </a:xfrm>
          <a:prstGeom prst="roundRect">
            <a:avLst>
              <a:gd name="adj" fmla="val 564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33119" y="30871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3119" y="3444875"/>
            <a:ext cx="3169364" cy="1037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the difference between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POST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 When would you use each?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39422" y="2915543"/>
            <a:ext cx="3512752" cy="1692316"/>
          </a:xfrm>
          <a:prstGeom prst="roundRect">
            <a:avLst>
              <a:gd name="adj" fmla="val 564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11066" y="30871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11066" y="3444875"/>
            <a:ext cx="3169464" cy="10374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would you use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include()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instead of copying code into every page?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17468" y="2915543"/>
            <a:ext cx="3512653" cy="1692316"/>
          </a:xfrm>
          <a:prstGeom prst="roundRect">
            <a:avLst>
              <a:gd name="adj" fmla="val 564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89112" y="30871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89112" y="3444875"/>
            <a:ext cx="3169364" cy="9873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$_POST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? What data type is it?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61475" y="4779508"/>
            <a:ext cx="5351626" cy="1586508"/>
          </a:xfrm>
          <a:prstGeom prst="roundRect">
            <a:avLst>
              <a:gd name="adj" fmla="val 564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33119" y="508979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33119" y="5348258"/>
            <a:ext cx="5008338" cy="846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does this output?</a:t>
            </a:r>
            <a:endParaRPr lang="en-US" sz="16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$x=7; if($x&gt;8){echo "A";}else{echo "B";}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8395" y="4779508"/>
            <a:ext cx="5351725" cy="1586507"/>
          </a:xfrm>
          <a:prstGeom prst="roundRect">
            <a:avLst>
              <a:gd name="adj" fmla="val 5647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350040" y="508979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350040" y="5348258"/>
            <a:ext cx="5008437" cy="846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use a function instead of writing the same logic multiple times in a page?</a:t>
            </a:r>
            <a:endParaRPr lang="en-US" sz="16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A029C0A8-26D0-254B-B94A-12529B20E2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471488"/>
            <a:ext cx="1279195" cy="317302"/>
          </a:xfrm>
          <a:prstGeom prst="roundRect">
            <a:avLst>
              <a:gd name="adj" fmla="val 17514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60691" y="521097"/>
            <a:ext cx="1690348" cy="218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📋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ASSIGNMENT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54869"/>
            <a:ext cx="6454018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Improve Your Project Tonight</a:t>
            </a:r>
            <a:endParaRPr lang="en-US" sz="3250" dirty="0"/>
          </a:p>
        </p:txBody>
      </p:sp>
      <p:sp>
        <p:nvSpPr>
          <p:cNvPr id="5" name="Text 3"/>
          <p:cNvSpPr/>
          <p:nvPr/>
        </p:nvSpPr>
        <p:spPr>
          <a:xfrm>
            <a:off x="661475" y="1619647"/>
            <a:ext cx="10875095" cy="4462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build sprint was 30 minutes. Tonight you have hours. Elevate your Registration Confirmation System into something portfolio-worthy.&gt;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475" y="2481780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Upgrades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485" y="2931340"/>
            <a:ext cx="248041" cy="2480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98830" y="2926280"/>
            <a:ext cx="24598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Photo Upload UI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98830" y="3350043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file input field styled with Bootstrap. (Display placeholder for now — no server upload needed.)</a:t>
            </a:r>
            <a:endParaRPr lang="en-US" sz="130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485" y="4215032"/>
            <a:ext cx="248041" cy="24804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98830" y="420997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More Fields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198830" y="4633735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Gender (radio), Course (dropdown), and Address (textarea) to the form.</a:t>
            </a:r>
            <a:endParaRPr lang="en-US" sz="130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3485" y="5498724"/>
            <a:ext cx="248041" cy="24804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98830" y="5493664"/>
            <a:ext cx="24029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Better Bootstrap Design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198830" y="5917428"/>
            <a:ext cx="469531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cards, badges, icons (Font Awesome), and a gradient header on the confirmation page.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6303904" y="2481780"/>
            <a:ext cx="2676954" cy="2648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r>
              <a:rPr lang="en-US" sz="16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Submit to GitHub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6303904" y="2911893"/>
            <a:ext cx="523266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your completed project to your GitHub repository with a clear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describes what the project does.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6303904" y="3627161"/>
            <a:ext cx="5232666" cy="909439"/>
          </a:xfrm>
          <a:prstGeom prst="roundRect">
            <a:avLst>
              <a:gd name="adj" fmla="val 7638"/>
            </a:avLst>
          </a:prstGeom>
          <a:solidFill>
            <a:srgbClr val="B6FCB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9198" y="3879574"/>
            <a:ext cx="206667" cy="16529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841160" y="3817264"/>
            <a:ext cx="453011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Students who complete the bonus features and push to GitHub on time get priority demo slots on Day 9.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5241C93-D563-F996-04C7-286FD3EB2A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456208"/>
            <a:ext cx="1511659" cy="290314"/>
          </a:xfrm>
          <a:prstGeom prst="roundRect">
            <a:avLst>
              <a:gd name="adj" fmla="val 18185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55730" y="503337"/>
            <a:ext cx="1932733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COMING TOMORROW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2251614" y="456208"/>
            <a:ext cx="550750" cy="290314"/>
          </a:xfrm>
          <a:prstGeom prst="roundRect">
            <a:avLst>
              <a:gd name="adj" fmla="val 18185"/>
            </a:avLst>
          </a:prstGeom>
          <a:noFill/>
          <a:ln/>
          <a:effectLst>
            <a:outerShdw blurRad="101600" dist="50800" dir="16200000" algn="bl" rotWithShape="0">
              <a:srgbClr val="4950BC">
                <a:alpha val="10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2345869" y="503337"/>
            <a:ext cx="971823" cy="1960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9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61475" y="806152"/>
            <a:ext cx="6296860" cy="981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Tomorrow: Saving Data Permanently</a:t>
            </a:r>
            <a:endParaRPr lang="en-US" sz="3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931" y="2011859"/>
            <a:ext cx="5981947" cy="27377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399297" y="3991301"/>
            <a:ext cx="1123039" cy="43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Retrieved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983960" y="3991301"/>
            <a:ext cx="1123039" cy="43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 Stores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576316" y="3991301"/>
            <a:ext cx="1123039" cy="43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Processes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1137903" y="3991301"/>
            <a:ext cx="1123039" cy="4326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Browser Form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61475" y="4917480"/>
            <a:ext cx="19050" cy="826095"/>
          </a:xfrm>
          <a:prstGeom prst="roundRect">
            <a:avLst>
              <a:gd name="adj" fmla="val 59999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/>
          <p:nvPr/>
        </p:nvSpPr>
        <p:spPr>
          <a:xfrm>
            <a:off x="897113" y="5085358"/>
            <a:ext cx="6061221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your application processed information. Tomorrow you'll store it permanently inside a database — and retrieve it whenever you want.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661475" y="5911453"/>
            <a:ext cx="6296860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9 introduces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MySQL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phpMyAdmin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and your first </a:t>
            </a:r>
            <a:r>
              <a:rPr lang="en-US" sz="12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2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query. Everything you built today becomes the front-end of a real database-driven application.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92621" y="1639292"/>
            <a:ext cx="5006453" cy="529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3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See You Tomorrow </a:t>
            </a:r>
            <a:r>
              <a:rPr lang="en-US" sz="3250" b="1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🚀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356682" y="2499420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Push your project. Document your code. Get some rest — Day 9 is where things get seriously powerful.</a:t>
            </a:r>
            <a:endParaRPr lang="en-US" sz="13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950071"/>
            <a:ext cx="413434" cy="41344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357018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Push to GitHub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61475" y="3927872"/>
            <a:ext cx="34850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Commit your Day 8 project with a clear README before midnight.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53213" y="2950071"/>
            <a:ext cx="413434" cy="41344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53213" y="3570188"/>
            <a:ext cx="216331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Today's Code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353213" y="3927872"/>
            <a:ext cx="348517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through your functions and includes one more time — reinforce the patterns.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45050" y="2950071"/>
            <a:ext cx="413434" cy="41344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5050" y="357018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Preview MySQL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045050" y="3927872"/>
            <a:ext cx="348517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phpMyAdmin at </a:t>
            </a:r>
            <a:r>
              <a:rPr lang="en-US" sz="13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localhost/phpmyadmin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we start there tomorrow.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61475" y="4907756"/>
            <a:ext cx="3130869" cy="310952"/>
          </a:xfrm>
          <a:prstGeom prst="roundRect">
            <a:avLst>
              <a:gd name="adj" fmla="val 17871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760691" y="4957366"/>
            <a:ext cx="3542021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STACK BOOTCAMP — DAY 8 COMPLETE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436C8EF-5C43-99E5-26F9-22C0DCCCD9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122442" y="26987"/>
            <a:ext cx="1003283" cy="100328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1900</Words>
  <Application>Microsoft Macintosh PowerPoint</Application>
  <PresentationFormat>Widescreen</PresentationFormat>
  <Paragraphs>200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Twemoji Mozilla</vt:lpstr>
      <vt:lpstr>Inter</vt:lpstr>
      <vt:lpstr>Inter Bold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Office767</cp:lastModifiedBy>
  <cp:revision>3</cp:revision>
  <dcterms:created xsi:type="dcterms:W3CDTF">2026-07-05T04:08:21Z</dcterms:created>
  <dcterms:modified xsi:type="dcterms:W3CDTF">2026-07-05T04:28:04Z</dcterms:modified>
</cp:coreProperties>
</file>